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Medium" panose="020B0604020202020204" charset="0"/>
      <p:regular r:id="rId21"/>
      <p:bold r:id="rId22"/>
      <p:italic r:id="rId23"/>
      <p:boldItalic r:id="rId24"/>
    </p:embeddedFont>
    <p:embeddedFont>
      <p:font typeface="Inter SemiBold" panose="020B0604020202020204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  <p:embeddedFont>
      <p:font typeface="Montserrat Black" panose="020F0502020204030204" pitchFamily="2" charset="0"/>
      <p:bold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10"/>
            <a:ext cx="86627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183286" y="994456"/>
            <a:ext cx="4620600" cy="9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2475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CHUTE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293300" y="2183418"/>
            <a:ext cx="440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Organize sua pelada. Eleve seu jogo.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293300" y="2691393"/>
            <a:ext cx="440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ENTREGA MVP  |  2026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4850" y="1175543"/>
            <a:ext cx="60960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807425" y="5371375"/>
            <a:ext cx="2615700" cy="8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Aluno: Gabriel Rodrigues Vjekoslav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47887"/>
            <a:ext cx="342260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147887"/>
            <a:ext cx="342260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2147887"/>
            <a:ext cx="3422600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17066" y="3405187"/>
            <a:ext cx="295036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Grupos Bagunçados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76300" y="3871912"/>
            <a:ext cx="28320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Confirmações perdidas e listas de presença impossíveis de gerenciar nos chats.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09099" y="3405187"/>
            <a:ext cx="297365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Times Desequilibrados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79900" y="4195762"/>
            <a:ext cx="28320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As tradicionais "panelinhas" que quebram a dinâmica e travam a diversão do jogo.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904327" y="3405187"/>
            <a:ext cx="19902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Zero Registro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83500" y="3871912"/>
            <a:ext cx="28320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Nenhum histórico de partidas, desempenho ou evolução real dos jogadores ao longo do tempo.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3650" y="2586037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7238" y="2586037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7514" y="2586037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ORGANIZAR </a:t>
            </a:r>
            <a:r>
              <a:rPr lang="en-US" sz="315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 FUTEBOL </a:t>
            </a: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É CAOS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0829925" y="6496050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CHUTE APP • 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38325"/>
            <a:ext cx="34226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1838325"/>
            <a:ext cx="34226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1838325"/>
            <a:ext cx="3422600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500547" y="5334000"/>
            <a:ext cx="38664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1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"Do caos ao campeonato."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7078" y="3095625"/>
            <a:ext cx="27503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Gestão de Partidas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76300" y="3562350"/>
            <a:ext cx="28320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Crie, convide, gerencie listas de espera e feche o evento em um único lugar.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90675" y="3095625"/>
            <a:ext cx="281035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Times Balanceados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79900" y="3562350"/>
            <a:ext cx="28320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Algoritmo inteligente de Snake Draft que distribui o nível técnico igualmente.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709302" y="3095625"/>
            <a:ext cx="23802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Progressão Real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83500" y="3562350"/>
            <a:ext cx="28320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Sistema de XP, níveis, rankings e histórico completo de estatísticas.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3650" y="2276475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7238" y="2276475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4176" y="2276475"/>
            <a:ext cx="5905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CHUTE RESOLVE TUDO ISSO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0829925" y="6496050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CHUTE APP • 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453062"/>
            <a:ext cx="52768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47837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81025" y="1747837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Plataforma Completa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14375" y="23098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19150" y="2309812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Cross-platform: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Aplicativo mobile (iOS, Android e Web via Expo).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14375" y="302418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19150" y="3024187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Modalidades: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Futsal, Society e Campo.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14375" y="34528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19150" y="3452812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Mecânicas: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Sistema de convites, formação de times e avaliações.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14375" y="416718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19150" y="4167187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Comunidade: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Feed social, grupos de times e ranking.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14375" y="45958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19150" y="4595812"/>
            <a:ext cx="5038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Infraestrutura: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Backend robusto em produção (Render).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33425" y="5605462"/>
            <a:ext cx="4972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Usuário</a:t>
            </a:r>
            <a:r>
              <a:rPr lang="en-US" sz="120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	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App 	Partida</a:t>
            </a:r>
            <a:r>
              <a:rPr lang="en-US" sz="120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	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Resultado</a:t>
            </a:r>
            <a:endParaRPr dirty="0"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3175" y="1766887"/>
            <a:ext cx="523875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51884" y="56978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21885" y="56978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8194" y="56978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 QUE É O CHUTE?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0829925" y="6496050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CHUTE APP • 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62075"/>
            <a:ext cx="5276850" cy="50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362075"/>
            <a:ext cx="5276850" cy="50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971550" y="1752600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6A00"/>
                </a:solidFill>
                <a:latin typeface="Montserrat"/>
                <a:ea typeface="Montserrat"/>
                <a:cs typeface="Montserrat"/>
                <a:sym typeface="Montserrat"/>
              </a:rPr>
              <a:t> Frontend Mobile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71550" y="2219325"/>
            <a:ext cx="4495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Construído para performance e experiência nativa.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724650" y="1752600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6A00"/>
                </a:solidFill>
                <a:latin typeface="Montserrat"/>
                <a:ea typeface="Montserrat"/>
                <a:cs typeface="Montserrat"/>
                <a:sym typeface="Montserrat"/>
              </a:rPr>
              <a:t> Backend API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724650" y="2219325"/>
            <a:ext cx="449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Arquitetura RESTful escalável e segura.</a:t>
            </a:r>
            <a:endParaRPr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17811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1104900" y="298132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209675" y="2981325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React Native + Expo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para desenvolvimento ágil.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04900" y="36957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209675" y="3695700"/>
            <a:ext cx="4380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Expo Router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para navegação file-based fluida.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104900" y="412432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209675" y="4124325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TypeScript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garantindo tipagem forte e segurança.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104900" y="48387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209675" y="4838700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SecureStore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para armazenamento seguro local.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104900" y="55530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209675" y="5553075"/>
            <a:ext cx="4257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Deploy nativo via serviços EAS Expo.</a:t>
            </a:r>
            <a:endParaRPr/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178117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6858000" y="26955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962775" y="2695575"/>
            <a:ext cx="4257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Node.js + Express.js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para alta concorrência.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858000" y="31242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962775" y="3124200"/>
            <a:ext cx="4257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MongoDB Atlas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como banco NoSQL flexível.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858000" y="355282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962775" y="3552825"/>
            <a:ext cx="4257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TypeScript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na camada de API.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858000" y="398145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6962775" y="3981450"/>
            <a:ext cx="4257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Zod Validation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JWT Auth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para segurança.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858000" y="44100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6962775" y="4410075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Deploy contínuo e em produção via </a:t>
            </a: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Render.com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771525" y="48577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TECNOLOGIA POR TRÁS DO CHUTE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581025" y="485775"/>
            <a:ext cx="57150" cy="4953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10829925" y="6496050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CHUTE APP • 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ARQUITETURA DO SISTEMA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10829925" y="6496050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CHUTE APP • 06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161800" y="1878675"/>
            <a:ext cx="5499900" cy="3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1905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Inter"/>
              <a:buNone/>
            </a:pPr>
            <a:r>
              <a:rPr lang="en-US" sz="1650" b="1">
                <a:solidFill>
                  <a:srgbClr val="FF6A00"/>
                </a:solidFill>
                <a:latin typeface="Inter"/>
                <a:ea typeface="Inter"/>
                <a:cs typeface="Inter"/>
                <a:sym typeface="Inter"/>
              </a:rPr>
              <a:t>1. App Mobile (Expo)</a:t>
            </a:r>
            <a:endParaRPr sz="1650" b="1">
              <a:solidFill>
                <a:srgbClr val="FF6A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1905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Interface do usuário consumindo dados dinâmicos.</a:t>
            </a:r>
            <a:br>
              <a:rPr lang="en-US" sz="15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1905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Inter"/>
              <a:buNone/>
            </a:pPr>
            <a:r>
              <a:rPr lang="en-US" sz="1650" b="1">
                <a:solidFill>
                  <a:srgbClr val="FF6A00"/>
                </a:solidFill>
                <a:latin typeface="Inter"/>
                <a:ea typeface="Inter"/>
                <a:cs typeface="Inter"/>
                <a:sym typeface="Inter"/>
              </a:rPr>
              <a:t>2. API REST (Express.js)</a:t>
            </a:r>
            <a:endParaRPr sz="1650" b="1">
              <a:solidFill>
                <a:srgbClr val="FF6A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1905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+30 endpoints suportando OData, processando a lógica de negócios e Autenticação JWT.</a:t>
            </a:r>
            <a:br>
              <a:rPr lang="en-US" sz="15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1905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Inter"/>
              <a:buNone/>
            </a:pPr>
            <a:r>
              <a:rPr lang="en-US" sz="1650" b="1">
                <a:solidFill>
                  <a:srgbClr val="FF6A00"/>
                </a:solidFill>
                <a:latin typeface="Inter"/>
                <a:ea typeface="Inter"/>
                <a:cs typeface="Inter"/>
                <a:sym typeface="Inter"/>
              </a:rPr>
              <a:t>3. Banco de Dados (MongoDB)</a:t>
            </a:r>
            <a:endParaRPr sz="1650" b="1">
              <a:solidFill>
                <a:srgbClr val="FF6A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1905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6 Coleções principais: User, Match, Court, Post, TeamGroup e StatSession.</a:t>
            </a:r>
            <a:endParaRPr sz="150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2" name="Google Shape;2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0025" y="2260237"/>
            <a:ext cx="5029664" cy="2873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/>
          <p:nvPr/>
        </p:nvSpPr>
        <p:spPr>
          <a:xfrm>
            <a:off x="857250" y="1238250"/>
            <a:ext cx="10477500" cy="1028700"/>
          </a:xfrm>
          <a:prstGeom prst="roundRect">
            <a:avLst>
              <a:gd name="adj" fmla="val 7407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1428750" y="1428750"/>
            <a:ext cx="9715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Criar </a:t>
            </a:r>
            <a:r>
              <a:rPr lang="en-US" sz="15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Gerenciar Partidas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Defina quadra, data, modalidade e limite de jogadores em segundos.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857250" y="1238250"/>
            <a:ext cx="38100" cy="10287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857250" y="2552700"/>
            <a:ext cx="10477500" cy="1028700"/>
          </a:xfrm>
          <a:prstGeom prst="roundRect">
            <a:avLst>
              <a:gd name="adj" fmla="val 7407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1428750" y="2743200"/>
            <a:ext cx="97155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de Convites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Envie convites; jogadores aceitam ou recusam direto no app.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857250" y="2552700"/>
            <a:ext cx="38100" cy="10287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857250" y="3867150"/>
            <a:ext cx="10477500" cy="1028700"/>
          </a:xfrm>
          <a:prstGeom prst="roundRect">
            <a:avLst>
              <a:gd name="adj" fmla="val 7407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1428750" y="4057650"/>
            <a:ext cx="97155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Snake Draft Inteligente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Sorteio automatizado que distribui jogadores balanceando a força das equipes.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857250" y="3867150"/>
            <a:ext cx="38100" cy="10287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857250" y="5181600"/>
            <a:ext cx="10477500" cy="1028700"/>
          </a:xfrm>
          <a:prstGeom prst="roundRect">
            <a:avLst>
              <a:gd name="adj" fmla="val 7407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1428750" y="5372100"/>
            <a:ext cx="97155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Avaliação Pós-jogo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Atribua notas, eleja o MVP da partida e registre gols e assistências.</a:t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857250" y="5181600"/>
            <a:ext cx="38100" cy="10287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8225" y="144303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8225" y="27574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8225" y="40719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8225" y="5386387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771525" y="361950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 QUE O CHUTE FAZ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81025" y="361950"/>
            <a:ext cx="57150" cy="4953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10839450" y="6496050"/>
            <a:ext cx="1057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CHUTE APP • 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/>
          <p:nvPr/>
        </p:nvSpPr>
        <p:spPr>
          <a:xfrm>
            <a:off x="857250" y="1238250"/>
            <a:ext cx="10477500" cy="1028700"/>
          </a:xfrm>
          <a:prstGeom prst="roundRect">
            <a:avLst>
              <a:gd name="adj" fmla="val 7407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1428750" y="1428750"/>
            <a:ext cx="97155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de XP &amp; Ranking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Progressão gamificada real baseada em notas, vitórias e prêmios.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857250" y="1238250"/>
            <a:ext cx="38100" cy="10287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857250" y="2552700"/>
            <a:ext cx="10477500" cy="1028700"/>
          </a:xfrm>
          <a:prstGeom prst="roundRect">
            <a:avLst>
              <a:gd name="adj" fmla="val 7407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1428750" y="2743200"/>
            <a:ext cx="97155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Times &amp; Grupos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Crie grupos fechados com emblemas e cores personalizadas.</a:t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857250" y="2552700"/>
            <a:ext cx="38100" cy="10287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857250" y="3867150"/>
            <a:ext cx="10477500" cy="1028700"/>
          </a:xfrm>
          <a:prstGeom prst="roundRect">
            <a:avLst>
              <a:gd name="adj" fmla="val 7407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1428750" y="4057650"/>
            <a:ext cx="97155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Feed Social Esportivo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Compartilhe momentos em posts (estilo mini-Twitter) para seus amigos.</a:t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857250" y="3867150"/>
            <a:ext cx="38100" cy="10287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857250" y="5181600"/>
            <a:ext cx="10477500" cy="1028700"/>
          </a:xfrm>
          <a:prstGeom prst="roundRect">
            <a:avLst>
              <a:gd name="adj" fmla="val 7407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1428750" y="5372100"/>
            <a:ext cx="97155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Banco de Quadras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Catálogo integrado para facilitar a escolha do local ideal (futsal/society/campo).</a:t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857250" y="5181600"/>
            <a:ext cx="38100" cy="10287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8225" y="1443037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8225" y="275748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8225" y="40719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8225" y="5386387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771525" y="361950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MUITO MAIS QUE ORGANIZAR</a:t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581025" y="361950"/>
            <a:ext cx="57150" cy="4953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10829925" y="6496050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CHUTE APP • 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867025"/>
            <a:ext cx="527685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867025"/>
            <a:ext cx="52768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543300"/>
            <a:ext cx="52768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219575"/>
            <a:ext cx="52768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895850"/>
            <a:ext cx="52768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449103" y="2305050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Tiers de Rank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202203" y="2305050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Cálculo de XP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334125" y="4562475"/>
            <a:ext cx="52768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"Cada pelada conta. Cada gol importa."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629400" y="3162300"/>
            <a:ext cx="4686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Fórmula de Desempenho:</a:t>
            </a:r>
            <a:endParaRPr/>
          </a:p>
        </p:txBody>
      </p:sp>
      <p:pic>
        <p:nvPicPr>
          <p:cNvPr id="265" name="Google Shape;265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3638550"/>
            <a:ext cx="4686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EVOLUA COMO JOGADOR</a:t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10829925" y="6496050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CHUTE APP • 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771525" y="581025"/>
            <a:ext cx="534066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333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🔴</a:t>
            </a: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VAMOS AO APP</a:t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1514475" y="1647825"/>
            <a:ext cx="35804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Demonstração ao Vivo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1514475" y="2257425"/>
            <a:ext cx="340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Fazer login no sistema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1514475" y="2714625"/>
            <a:ext cx="340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Mostrar a Home e KPIs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1514475" y="3171825"/>
            <a:ext cx="340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Criar uma partida nova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514475" y="3629025"/>
            <a:ext cx="340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Gerenciar convites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1514475" y="4086225"/>
            <a:ext cx="340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Gerar times (Snake Draft)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1514475" y="4543425"/>
            <a:ext cx="340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Verificar perfil, XP e Feed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1514475" y="5381625"/>
            <a:ext cx="341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5" name="Google Shape;28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4475" y="23145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4475" y="27717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4475" y="32289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4475" y="36861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4475" y="41433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4475" y="4600575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3812" y="5391150"/>
            <a:ext cx="45243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09750"/>
            <a:ext cx="53721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809750"/>
            <a:ext cx="53721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52825"/>
            <a:ext cx="53721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3552825"/>
            <a:ext cx="537210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/>
        </p:nvSpPr>
        <p:spPr>
          <a:xfrm>
            <a:off x="4129087" y="5543550"/>
            <a:ext cx="3933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URL Produção: </a:t>
            </a:r>
            <a:r>
              <a:rPr lang="en-US"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https://chute-mobile.onrender.com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866775" y="2095500"/>
            <a:ext cx="4800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F6A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6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866775" y="2762250"/>
            <a:ext cx="4800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Coleções MongoDB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6524625" y="2095500"/>
            <a:ext cx="4800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F6A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30+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6524625" y="2762250"/>
            <a:ext cx="4800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Endpoints REST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866775" y="3838575"/>
            <a:ext cx="4800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F6A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13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866775" y="4505325"/>
            <a:ext cx="4800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Services no Frontend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6524625" y="3838575"/>
            <a:ext cx="4800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F6A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3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6524625" y="4505325"/>
            <a:ext cx="4800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Plataformas suportadas</a:t>
            </a:r>
            <a:endParaRPr/>
          </a:p>
        </p:txBody>
      </p:sp>
      <p:pic>
        <p:nvPicPr>
          <p:cNvPr id="310" name="Google Shape;31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29087" y="5581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UMA API ROBUSTA</a:t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 txBox="1"/>
          <p:nvPr/>
        </p:nvSpPr>
        <p:spPr>
          <a:xfrm>
            <a:off x="10887075" y="6496050"/>
            <a:ext cx="1009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CHUTE APP •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76412"/>
            <a:ext cx="5276850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76412"/>
            <a:ext cx="5276850" cy="418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4"/>
          <p:cNvSpPr txBox="1"/>
          <p:nvPr/>
        </p:nvSpPr>
        <p:spPr>
          <a:xfrm>
            <a:off x="971550" y="2195512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Desafios Enfrentados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6724650" y="2195512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Aprendizados</a:t>
            </a:r>
            <a:endParaRPr/>
          </a:p>
        </p:txBody>
      </p:sp>
      <p:pic>
        <p:nvPicPr>
          <p:cNvPr id="323" name="Google Shape;32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22408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 txBox="1"/>
          <p:nvPr/>
        </p:nvSpPr>
        <p:spPr>
          <a:xfrm>
            <a:off x="1104900" y="270986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1209675" y="2709862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Lógica complexa para o balanceamento real de times no algoritmo </a:t>
            </a: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Snake Draft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1104900" y="342423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1209675" y="3424237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Garantir o armazenamento seguro de sessão (SecureStore vs AsyncStorage).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1104900" y="41386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1209675" y="4138612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Otimizar o deploy full-stack lidando com problemas de </a:t>
            </a:r>
            <a:r>
              <a:rPr lang="en-US" sz="1500" b="0" i="1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cold start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no Render.com.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1104900" y="485298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1209675" y="4852987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Sincronização de estado global entre múltiplas telas via Expo Router.</a:t>
            </a:r>
            <a:endParaRPr/>
          </a:p>
        </p:txBody>
      </p:sp>
      <p:pic>
        <p:nvPicPr>
          <p:cNvPr id="332" name="Google Shape;332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2240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 txBox="1"/>
          <p:nvPr/>
        </p:nvSpPr>
        <p:spPr>
          <a:xfrm>
            <a:off x="6858000" y="270986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6962775" y="2709862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Modelagem eficiente de dados relacionais e referências dentro do </a:t>
            </a: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MongoDB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6858000" y="342423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6962775" y="3424237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Implementação de validações robustas ponta-a-ponta usando </a:t>
            </a: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Zod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6858000" y="41386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6962775" y="4138612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Refinamento do conceito de design </a:t>
            </a:r>
            <a:r>
              <a:rPr lang="en-US" sz="1500" b="0" i="1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mobile-first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no React Native.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6858000" y="485298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6962775" y="4852987"/>
            <a:ext cx="4257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Domínio da arquitetura e integração de autenticação com </a:t>
            </a:r>
            <a:r>
              <a:rPr lang="en-US" sz="1500" b="1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r>
              <a:rPr lang="en-US" sz="15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 QUE APRENDEMOS CONSTRUINDO O CHUTE</a:t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 txBox="1"/>
          <p:nvPr/>
        </p:nvSpPr>
        <p:spPr>
          <a:xfrm>
            <a:off x="10858500" y="6496050"/>
            <a:ext cx="10382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CHUTE APP • 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/>
          <p:nvPr/>
        </p:nvSpPr>
        <p:spPr>
          <a:xfrm>
            <a:off x="581025" y="4038600"/>
            <a:ext cx="1102995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517605" y="4391025"/>
            <a:ext cx="266361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6A00"/>
                </a:solidFill>
                <a:latin typeface="Montserrat"/>
                <a:ea typeface="Montserrat"/>
                <a:cs typeface="Montserrat"/>
                <a:sym typeface="Montserrat"/>
              </a:rPr>
              <a:t>Notificações</a:t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581025" y="4762500"/>
            <a:ext cx="25367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Push nativo para alertas de convites, novos jogos e resultados.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3348614" y="2752725"/>
            <a:ext cx="266361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6A00"/>
                </a:solidFill>
                <a:latin typeface="Montserrat"/>
                <a:ea typeface="Montserrat"/>
                <a:cs typeface="Montserrat"/>
                <a:sym typeface="Montserrat"/>
              </a:rPr>
              <a:t>Mídia no Feed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3412033" y="3124200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Upload de avatares de perfil e fotos de momentos das partidas.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6179622" y="4391025"/>
            <a:ext cx="266361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6A00"/>
                </a:solidFill>
                <a:latin typeface="Montserrat"/>
                <a:ea typeface="Montserrat"/>
                <a:cs typeface="Montserrat"/>
                <a:sym typeface="Montserrat"/>
              </a:rPr>
              <a:t>Geofencing</a:t>
            </a:r>
            <a:endParaRPr/>
          </a:p>
        </p:txBody>
      </p:sp>
      <p:sp>
        <p:nvSpPr>
          <p:cNvPr id="355" name="Google Shape;355;p25"/>
          <p:cNvSpPr txBox="1"/>
          <p:nvPr/>
        </p:nvSpPr>
        <p:spPr>
          <a:xfrm>
            <a:off x="6243042" y="4762500"/>
            <a:ext cx="25367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Mapa interativo de quadras próximas usando geolocalização do app.</a:t>
            </a:r>
            <a:endParaRPr/>
          </a:p>
        </p:txBody>
      </p:sp>
      <p:sp>
        <p:nvSpPr>
          <p:cNvPr id="356" name="Google Shape;356;p25"/>
          <p:cNvSpPr txBox="1"/>
          <p:nvPr/>
        </p:nvSpPr>
        <p:spPr>
          <a:xfrm>
            <a:off x="9010631" y="2524125"/>
            <a:ext cx="266361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6A00"/>
                </a:solidFill>
                <a:latin typeface="Montserrat"/>
                <a:ea typeface="Montserrat"/>
                <a:cs typeface="Montserrat"/>
                <a:sym typeface="Montserrat"/>
              </a:rPr>
              <a:t>Torneios</a:t>
            </a:r>
            <a:endParaRPr/>
          </a:p>
        </p:txBody>
      </p:sp>
      <p:sp>
        <p:nvSpPr>
          <p:cNvPr id="357" name="Google Shape;357;p25"/>
          <p:cNvSpPr txBox="1"/>
          <p:nvPr/>
        </p:nvSpPr>
        <p:spPr>
          <a:xfrm>
            <a:off x="9074050" y="2895600"/>
            <a:ext cx="25367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Chaveamento automático e gestão de fases eliminatórias (Mata-mata).</a:t>
            </a:r>
            <a:endParaRPr/>
          </a:p>
        </p:txBody>
      </p:sp>
      <p:pic>
        <p:nvPicPr>
          <p:cNvPr id="358" name="Google Shape;35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3050" y="44100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8809" y="27717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54117" y="441007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37526" y="254317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/>
          <p:nvPr/>
        </p:nvSpPr>
        <p:spPr>
          <a:xfrm>
            <a:off x="1735112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38100" cap="flat" cmpd="sng">
            <a:solidFill>
              <a:srgbClr val="FF6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4566121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38100" cap="flat" cmpd="sng">
            <a:solidFill>
              <a:srgbClr val="FF6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7397129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38100" cap="flat" cmpd="sng">
            <a:solidFill>
              <a:srgbClr val="FF6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10228138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38100" cap="flat" cmpd="sng">
            <a:solidFill>
              <a:srgbClr val="FF6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 QUE VEM DEPOIS</a:t>
            </a:r>
            <a:endParaRPr/>
          </a:p>
        </p:txBody>
      </p:sp>
      <p:sp>
        <p:nvSpPr>
          <p:cNvPr id="367" name="Google Shape;367;p25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 txBox="1"/>
          <p:nvPr/>
        </p:nvSpPr>
        <p:spPr>
          <a:xfrm>
            <a:off x="10858500" y="6496050"/>
            <a:ext cx="10382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CHUTE APP •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86237"/>
            <a:ext cx="110299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6"/>
          <p:cNvSpPr txBox="1"/>
          <p:nvPr/>
        </p:nvSpPr>
        <p:spPr>
          <a:xfrm>
            <a:off x="305276" y="1576387"/>
            <a:ext cx="11581447" cy="139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82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F6A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CHUTE</a:t>
            </a:r>
            <a:endParaRPr/>
          </a:p>
        </p:txBody>
      </p:sp>
      <p:sp>
        <p:nvSpPr>
          <p:cNvPr id="376" name="Google Shape;376;p26"/>
          <p:cNvSpPr txBox="1"/>
          <p:nvPr/>
        </p:nvSpPr>
        <p:spPr>
          <a:xfrm>
            <a:off x="581025" y="3157537"/>
            <a:ext cx="1102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Organize. Jogue. Evolua.</a:t>
            </a:r>
            <a:endParaRPr/>
          </a:p>
        </p:txBody>
      </p:sp>
      <p:pic>
        <p:nvPicPr>
          <p:cNvPr id="377" name="Google Shape;37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9012" y="1928812"/>
            <a:ext cx="8477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6"/>
          <p:cNvSpPr txBox="1"/>
          <p:nvPr/>
        </p:nvSpPr>
        <p:spPr>
          <a:xfrm>
            <a:off x="581025" y="4481512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Obrigado pela atenção!</a:t>
            </a:r>
            <a:endParaRPr/>
          </a:p>
        </p:txBody>
      </p:sp>
      <p:sp>
        <p:nvSpPr>
          <p:cNvPr id="379" name="Google Shape;379;p26"/>
          <p:cNvSpPr txBox="1"/>
          <p:nvPr/>
        </p:nvSpPr>
        <p:spPr>
          <a:xfrm>
            <a:off x="581025" y="4910137"/>
            <a:ext cx="1103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Equipe MVP: </a:t>
            </a:r>
            <a:r>
              <a:rPr lang="en-US" sz="1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Gabriel Rodrigues Vjekoslav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1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Microsoft Office PowerPoint</Application>
  <PresentationFormat>Widescreen</PresentationFormat>
  <Paragraphs>140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Inter Medium</vt:lpstr>
      <vt:lpstr>Arial</vt:lpstr>
      <vt:lpstr>Montserrat</vt:lpstr>
      <vt:lpstr>Montserrat Black</vt:lpstr>
      <vt:lpstr>Inter SemiBold</vt:lpstr>
      <vt:lpstr>Calibri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 Rodrigues</cp:lastModifiedBy>
  <cp:revision>1</cp:revision>
  <dcterms:modified xsi:type="dcterms:W3CDTF">2026-05-27T22:56:11Z</dcterms:modified>
</cp:coreProperties>
</file>